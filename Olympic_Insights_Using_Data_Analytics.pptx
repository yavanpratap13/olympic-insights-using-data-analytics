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0B90F5-6F5A-7CEB-31BB-830D533A294C}">
          <p14:sldIdLst>
            <p14:sldId id="256"/>
            <p14:sldId id="257"/>
            <p14:sldId id="258"/>
            <p14:sldId id="259"/>
          </p14:sldIdLst>
        </p14:section>
        <p14:section name="Dashboard Walkthrough" id="{6C96C052-90EE-9AB3-5FCB-AE96A0DDAA91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rap-up" id="{21BF9961-9C75-E1B7-9940-5F4981DF2604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3132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IOC-style problem statement solved with Power BI and DAX on historical Olympic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problem: the IOC wants to track achievements, evaluate KPIs and plan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model: fact table of athlete results at the centre, dimension tables around it, and a separate table that holds all DAX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 navigable pages in the Power BI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view: total medals, countries, medals per edition and the top countries. Use the year slider to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Country page: athletes represented, medals won and medal efficiency per 100 athletes.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Athlete spotlight: top medal winners, most participated athletes, gender split of medals and medalists vs non-medalists.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Sports page: totals, top sports by medals, athlete participation by sport and country dominance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page: medals as host by year, host vs non-host medals, Olympics hosted and host events per country.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Demography page: athlete counts by sex, age groups, average age and youngest/oldest medal winners.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four main findings, then position forecasting and richer context as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m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"/>
            <a:ext cx="10725912" cy="603504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097280" y="1417320"/>
            <a:ext cx="999439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600" b="1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5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m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51560"/>
            <a:ext cx="8449056" cy="4754880"/>
          </a:xfrm>
          <a:prstGeom prst="rect">
            <a:avLst/>
          </a:prstGeom>
        </p:spPr>
      </p:pic>
      <p:pic>
        <p:nvPicPr>
          <p:cNvPr id="3" name="Image 1" descr="/home/claude/assets/r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384048"/>
            <a:ext cx="868680" cy="4572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98755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Olympic Insights Using Data Analytics  |  Yavan Pratap, Cohort 13, WSCubeTech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avan.pratap13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yavan-pratap-singh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yavan.pratap13@gmail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yavan-pratap-sing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91440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chemeClr val="tx2"/>
                </a:solidFill>
              </a:rPr>
              <a:t>INTERNATIONAL OLYMPIC COMMITTEE  |  DATA ANALYTICS CASE STUDY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097280" y="1417320"/>
            <a:ext cx="9994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chemeClr val="tx1"/>
                </a:solidFill>
              </a:rPr>
              <a:t>Olympic Insights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606040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Data Analytics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3337560"/>
            <a:ext cx="8165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</a:rPr>
              <a:t>Medal trends, athlete performance and sport dominance across 126 years of Games (1896 to 2022)</a:t>
            </a:r>
            <a:endParaRPr lang="en-US" sz="1800" dirty="0"/>
          </a:p>
        </p:txBody>
      </p:sp>
      <p:sp>
        <p:nvSpPr>
          <p:cNvPr id="6" name="Prepared-by card"/>
          <p:cNvSpPr/>
          <p:nvPr/>
        </p:nvSpPr>
        <p:spPr>
          <a:xfrm>
            <a:off x="3355848" y="4434840"/>
            <a:ext cx="548640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355848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chemeClr val="accent6"/>
                </a:solidFill>
              </a:rPr>
              <a:t>PREPARED BY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355848" y="4828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Yavan Pratap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55848" y="55595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yavan.pratap13@gmail.com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linkedin.com/in/yavan-pratap-singh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Challenge: Insights for the IOC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371600"/>
            <a:ext cx="6035040" cy="324612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013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6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IOC wants advanced insights into athlete performance, country-wise medal trends and sport-specific dominance across the Olympic Games, built from historical data to support strategic planning and athlete development.</a:t>
            </a:r>
            <a:endParaRPr lang="en-US" sz="1800" dirty="0"/>
          </a:p>
        </p:txBody>
      </p:sp>
      <p:sp>
        <p:nvSpPr>
          <p:cNvPr id="8" name="Toolkit card"/>
          <p:cNvSpPr/>
          <p:nvPr/>
        </p:nvSpPr>
        <p:spPr>
          <a:xfrm>
            <a:off x="548640" y="4892040"/>
            <a:ext cx="6035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868680" y="5029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6"/>
                </a:solidFill>
              </a:rPr>
              <a:t>TOOLKIT</a:t>
            </a:r>
            <a:endParaRPr lang="en-US" sz="1100" dirty="0"/>
          </a:p>
        </p:txBody>
      </p:sp>
      <p:sp>
        <p:nvSpPr>
          <p:cNvPr id="10" name="Tool chip"/>
          <p:cNvSpPr/>
          <p:nvPr/>
        </p:nvSpPr>
        <p:spPr>
          <a:xfrm>
            <a:off x="868680" y="5394960"/>
            <a:ext cx="1261872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68680" y="53949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Power BI</a:t>
            </a:r>
            <a:endParaRPr lang="en-US" sz="1200" dirty="0"/>
          </a:p>
        </p:txBody>
      </p:sp>
      <p:sp>
        <p:nvSpPr>
          <p:cNvPr id="12" name="Tool chip"/>
          <p:cNvSpPr/>
          <p:nvPr/>
        </p:nvSpPr>
        <p:spPr>
          <a:xfrm>
            <a:off x="2240280" y="5394960"/>
            <a:ext cx="1261872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2240280" y="53949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DAX</a:t>
            </a:r>
            <a:endParaRPr lang="en-US" sz="1200" dirty="0"/>
          </a:p>
        </p:txBody>
      </p:sp>
      <p:sp>
        <p:nvSpPr>
          <p:cNvPr id="14" name="Tool chip"/>
          <p:cNvSpPr/>
          <p:nvPr/>
        </p:nvSpPr>
        <p:spPr>
          <a:xfrm>
            <a:off x="3611880" y="5394960"/>
            <a:ext cx="1261872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3611880" y="53949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Data Modelling</a:t>
            </a:r>
            <a:endParaRPr lang="en-US" sz="1200" dirty="0"/>
          </a:p>
        </p:txBody>
      </p:sp>
      <p:sp>
        <p:nvSpPr>
          <p:cNvPr id="16" name="Tool chip"/>
          <p:cNvSpPr/>
          <p:nvPr/>
        </p:nvSpPr>
        <p:spPr>
          <a:xfrm>
            <a:off x="4983480" y="5394960"/>
            <a:ext cx="1261872" cy="411480"/>
          </a:xfrm>
          <a:prstGeom prst="roundRect">
            <a:avLst>
              <a:gd name="adj" fmla="val 4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4983480" y="539496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Olympic CSVs</a:t>
            </a:r>
            <a:endParaRPr lang="en-US" sz="1200" dirty="0"/>
          </a:p>
        </p:txBody>
      </p:sp>
      <p:sp>
        <p:nvSpPr>
          <p:cNvPr id="18" name="Goal card"/>
          <p:cNvSpPr/>
          <p:nvPr/>
        </p:nvSpPr>
        <p:spPr>
          <a:xfrm>
            <a:off x="6949440" y="1371600"/>
            <a:ext cx="46908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Icon circle"/>
          <p:cNvSpPr/>
          <p:nvPr/>
        </p:nvSpPr>
        <p:spPr>
          <a:xfrm>
            <a:off x="722376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medal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210" y="1908810"/>
            <a:ext cx="342900" cy="3429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818388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achievements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18388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Medal counts by country, athlete and sport over time.</a:t>
            </a:r>
            <a:endParaRPr lang="en-US" sz="1400" dirty="0"/>
          </a:p>
        </p:txBody>
      </p:sp>
      <p:sp>
        <p:nvSpPr>
          <p:cNvPr id="23" name="Goal card"/>
          <p:cNvSpPr/>
          <p:nvPr/>
        </p:nvSpPr>
        <p:spPr>
          <a:xfrm>
            <a:off x="6949440" y="3017520"/>
            <a:ext cx="46908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Icon circle"/>
          <p:cNvSpPr/>
          <p:nvPr/>
        </p:nvSpPr>
        <p:spPr>
          <a:xfrm>
            <a:off x="7223760" y="338328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targe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5210" y="3554730"/>
            <a:ext cx="342900" cy="3429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1838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performance KPIs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8183880" y="3657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Medal efficiency, participation and podium share.</a:t>
            </a:r>
            <a:endParaRPr lang="en-US" sz="1400" dirty="0"/>
          </a:p>
        </p:txBody>
      </p:sp>
      <p:sp>
        <p:nvSpPr>
          <p:cNvPr id="28" name="Goal card"/>
          <p:cNvSpPr/>
          <p:nvPr/>
        </p:nvSpPr>
        <p:spPr>
          <a:xfrm>
            <a:off x="6949440" y="4663440"/>
            <a:ext cx="469087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Icon circle"/>
          <p:cNvSpPr/>
          <p:nvPr/>
        </p:nvSpPr>
        <p:spPr>
          <a:xfrm>
            <a:off x="7223760" y="502920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char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210" y="5200650"/>
            <a:ext cx="342900" cy="3429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18388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what comes next</a:t>
            </a:r>
            <a:endParaRPr lang="en-US" sz="1800" dirty="0"/>
          </a:p>
        </p:txBody>
      </p:sp>
      <p:sp>
        <p:nvSpPr>
          <p:cNvPr id="32" name="Text 26"/>
          <p:cNvSpPr txBox="1"/>
          <p:nvPr/>
        </p:nvSpPr>
        <p:spPr>
          <a:xfrm>
            <a:off x="8183880" y="5303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Spot trends that guide strategy and athlete development.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Model: How the Tables Connect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548640" y="1371600"/>
            <a:ext cx="7223760" cy="4519477"/>
          </a:xfrm>
          <a:prstGeom prst="roundRect">
            <a:avLst>
              <a:gd name="adj" fmla="val 2023"/>
            </a:avLst>
          </a:prstGeom>
          <a:solidFill>
            <a:schemeClr val="bg1"/>
          </a:solidFill>
          <a:ln w="12700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ower BI data model diagram showing six Olympic tables linked to a DAX measures 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7040880" cy="4336597"/>
          </a:xfrm>
          <a:prstGeom prst="rect">
            <a:avLst/>
          </a:prstGeom>
        </p:spPr>
      </p:pic>
      <p:sp>
        <p:nvSpPr>
          <p:cNvPr id="5" name="Fact card"/>
          <p:cNvSpPr/>
          <p:nvPr/>
        </p:nvSpPr>
        <p:spPr>
          <a:xfrm>
            <a:off x="8138160" y="1371600"/>
            <a:ext cx="3502152" cy="1354092"/>
          </a:xfrm>
          <a:prstGeom prst="roundRect">
            <a:avLst>
              <a:gd name="adj" fmla="val 810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Icon circle"/>
          <p:cNvSpPr/>
          <p:nvPr/>
        </p:nvSpPr>
        <p:spPr>
          <a:xfrm>
            <a:off x="8302752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d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482" y="172593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96112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linked tables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961120" y="1901952"/>
            <a:ext cx="2560320" cy="759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Athlete Bio, Athlete Event, Games, Country, Medal Tally and Results.</a:t>
            </a:r>
            <a:endParaRPr lang="en-US" sz="1400" dirty="0"/>
          </a:p>
        </p:txBody>
      </p:sp>
      <p:sp>
        <p:nvSpPr>
          <p:cNvPr id="10" name="Fact card"/>
          <p:cNvSpPr/>
          <p:nvPr/>
        </p:nvSpPr>
        <p:spPr>
          <a:xfrm>
            <a:off x="8138160" y="2954292"/>
            <a:ext cx="3502152" cy="1354092"/>
          </a:xfrm>
          <a:prstGeom prst="roundRect">
            <a:avLst>
              <a:gd name="adj" fmla="val 810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Icon circle"/>
          <p:cNvSpPr/>
          <p:nvPr/>
        </p:nvSpPr>
        <p:spPr>
          <a:xfrm>
            <a:off x="8302752" y="31828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lin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8482" y="3308622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61120" y="31371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One-to-many links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961120" y="3484644"/>
            <a:ext cx="2560320" cy="759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Keyed on athlete_id, edition_id and country_noc.</a:t>
            </a:r>
            <a:endParaRPr lang="en-US" sz="1400" dirty="0"/>
          </a:p>
        </p:txBody>
      </p:sp>
      <p:sp>
        <p:nvSpPr>
          <p:cNvPr id="15" name="Fact card"/>
          <p:cNvSpPr/>
          <p:nvPr/>
        </p:nvSpPr>
        <p:spPr>
          <a:xfrm>
            <a:off x="8138160" y="4536985"/>
            <a:ext cx="3502152" cy="1354092"/>
          </a:xfrm>
          <a:prstGeom prst="roundRect">
            <a:avLst>
              <a:gd name="adj" fmla="val 810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Icon circle"/>
          <p:cNvSpPr/>
          <p:nvPr/>
        </p:nvSpPr>
        <p:spPr>
          <a:xfrm>
            <a:off x="8302752" y="4765585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lis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8482" y="4891315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1120" y="4719865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 DAX measures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961120" y="5067337"/>
            <a:ext cx="2560320" cy="759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dedicated measures table powers every KPI and visual.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Dashboard Roadmap: Six Pages, One Story</a:t>
            </a:r>
            <a:endParaRPr lang="en-US" sz="3200" dirty="0"/>
          </a:p>
        </p:txBody>
      </p:sp>
      <p:sp>
        <p:nvSpPr>
          <p:cNvPr id="3" name="Page tile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glob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7487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Global Medal Overview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Total medals and countries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Top countries by medals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Medal trend by edition</a:t>
            </a:r>
            <a:endParaRPr lang="en-US" sz="1400" dirty="0"/>
          </a:p>
        </p:txBody>
      </p:sp>
      <p:sp>
        <p:nvSpPr>
          <p:cNvPr id="8" name="Page tile"/>
          <p:cNvSpPr/>
          <p:nvPr/>
        </p:nvSpPr>
        <p:spPr>
          <a:xfrm>
            <a:off x="434340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Icon circle"/>
          <p:cNvSpPr/>
          <p:nvPr/>
        </p:nvSpPr>
        <p:spPr>
          <a:xfrm>
            <a:off x="4572000" y="16002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fla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590" y="174879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Country Insights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Athletes, medals, efficiency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Gold, silver, bronze split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Athletes by country</a:t>
            </a:r>
            <a:endParaRPr lang="en-US" sz="1400" dirty="0"/>
          </a:p>
        </p:txBody>
      </p:sp>
      <p:sp>
        <p:nvSpPr>
          <p:cNvPr id="13" name="Page tile"/>
          <p:cNvSpPr/>
          <p:nvPr/>
        </p:nvSpPr>
        <p:spPr>
          <a:xfrm>
            <a:off x="813816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Icon circle"/>
          <p:cNvSpPr/>
          <p:nvPr/>
        </p:nvSpPr>
        <p:spPr>
          <a:xfrm>
            <a:off x="8366760" y="16002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ru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5350" y="174879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9828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Athlete Spotlight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Top medal-winning athletes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Most Olympic appearances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Medalists vs all athletes</a:t>
            </a:r>
            <a:endParaRPr lang="en-US" sz="1400" dirty="0"/>
          </a:p>
        </p:txBody>
      </p:sp>
      <p:sp>
        <p:nvSpPr>
          <p:cNvPr id="18" name="Page tile"/>
          <p:cNvSpPr/>
          <p:nvPr/>
        </p:nvSpPr>
        <p:spPr>
          <a:xfrm>
            <a:off x="548640" y="384048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Icon circle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ball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421767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Sports &amp; Events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Total sports and events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Top sports by medals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Country dominance by sport</a:t>
            </a:r>
            <a:endParaRPr lang="en-US" sz="1400" dirty="0"/>
          </a:p>
        </p:txBody>
      </p:sp>
      <p:sp>
        <p:nvSpPr>
          <p:cNvPr id="23" name="Page tile"/>
          <p:cNvSpPr/>
          <p:nvPr/>
        </p:nvSpPr>
        <p:spPr>
          <a:xfrm>
            <a:off x="4343400" y="384048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Icon circle"/>
          <p:cNvSpPr/>
          <p:nvPr/>
        </p:nvSpPr>
        <p:spPr>
          <a:xfrm>
            <a:off x="4572000" y="406908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4" descr="host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0590" y="421767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Host Country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Events hosted per country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Host vs non-host medals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Host medal trend</a:t>
            </a:r>
            <a:endParaRPr lang="en-US" sz="1400" dirty="0"/>
          </a:p>
        </p:txBody>
      </p:sp>
      <p:sp>
        <p:nvSpPr>
          <p:cNvPr id="28" name="Page tile"/>
          <p:cNvSpPr/>
          <p:nvPr/>
        </p:nvSpPr>
        <p:spPr>
          <a:xfrm>
            <a:off x="8138160" y="384048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Icon circle"/>
          <p:cNvSpPr/>
          <p:nvPr/>
        </p:nvSpPr>
        <p:spPr>
          <a:xfrm>
            <a:off x="8366760" y="4069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5" descr="gend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5350" y="421767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98280" y="40690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Gender &amp; Demography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4846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Male vs female athletes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Age groups and averages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Youngest and oldest winners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Global Medal Overview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548640" y="1371600"/>
            <a:ext cx="7406640" cy="4394576"/>
          </a:xfrm>
          <a:prstGeom prst="roundRect">
            <a:avLst>
              <a:gd name="adj" fmla="val 2081"/>
            </a:avLst>
          </a:prstGeom>
          <a:solidFill>
            <a:schemeClr val="bg1"/>
          </a:solidFill>
          <a:ln w="12700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ower BI page: Global Medal Over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7223760" cy="4211696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8321040" y="1371600"/>
            <a:ext cx="33192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tat pill"/>
          <p:cNvSpPr/>
          <p:nvPr/>
        </p:nvSpPr>
        <p:spPr>
          <a:xfrm>
            <a:off x="8321040" y="1371600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32104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21K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9921240" y="137160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Medals awarded</a:t>
            </a:r>
            <a:endParaRPr lang="en-US" sz="1400" dirty="0"/>
          </a:p>
        </p:txBody>
      </p:sp>
      <p:sp>
        <p:nvSpPr>
          <p:cNvPr id="9" name="Stat card"/>
          <p:cNvSpPr/>
          <p:nvPr/>
        </p:nvSpPr>
        <p:spPr>
          <a:xfrm>
            <a:off x="8321040" y="2377440"/>
            <a:ext cx="33192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tat pill"/>
          <p:cNvSpPr/>
          <p:nvPr/>
        </p:nvSpPr>
        <p:spPr>
          <a:xfrm>
            <a:off x="8321040" y="2377440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321040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235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921240" y="237744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Countries participated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8321040" y="3383280"/>
            <a:ext cx="33192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tat pill"/>
          <p:cNvSpPr/>
          <p:nvPr/>
        </p:nvSpPr>
        <p:spPr>
          <a:xfrm>
            <a:off x="8321040" y="3383280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321040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921240" y="338328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Years covered, 1896 to 2022</a:t>
            </a:r>
            <a:endParaRPr lang="en-US" sz="1400" dirty="0"/>
          </a:p>
        </p:txBody>
      </p:sp>
      <p:sp>
        <p:nvSpPr>
          <p:cNvPr id="17" name="Insight card"/>
          <p:cNvSpPr/>
          <p:nvPr/>
        </p:nvSpPr>
        <p:spPr>
          <a:xfrm>
            <a:off x="8321040" y="4389120"/>
            <a:ext cx="3319272" cy="1377056"/>
          </a:xfrm>
          <a:prstGeom prst="roundRect">
            <a:avLst>
              <a:gd name="adj" fmla="val 7968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8503920" y="452628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6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4800600"/>
            <a:ext cx="2953512" cy="8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Medals per edition rose from about 100 in 1896 to 1,000+ in recent Summer Games, and the USA leads all nations with roughly 3K medals.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Country Insights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4233672" y="1371600"/>
            <a:ext cx="7406640" cy="4491696"/>
          </a:xfrm>
          <a:prstGeom prst="roundRect">
            <a:avLst>
              <a:gd name="adj" fmla="val 2036"/>
            </a:avLst>
          </a:prstGeom>
          <a:solidFill>
            <a:schemeClr val="bg1"/>
          </a:solidFill>
          <a:ln w="12700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ower BI page: Country Insigh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463040"/>
            <a:ext cx="7223760" cy="4308816"/>
          </a:xfrm>
          <a:prstGeom prst="rect">
            <a:avLst/>
          </a:prstGeom>
        </p:spPr>
      </p:pic>
      <p:sp>
        <p:nvSpPr>
          <p:cNvPr id="5" name="Insight row"/>
          <p:cNvSpPr/>
          <p:nvPr/>
        </p:nvSpPr>
        <p:spPr>
          <a:xfrm>
            <a:off x="548640" y="1371600"/>
            <a:ext cx="3319272" cy="1344832"/>
          </a:xfrm>
          <a:prstGeom prst="roundRect">
            <a:avLst>
              <a:gd name="adj" fmla="val 8159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Icon circle"/>
          <p:cNvSpPr/>
          <p:nvPr/>
        </p:nvSpPr>
        <p:spPr>
          <a:xfrm>
            <a:off x="713232" y="1600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troph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" y="172593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5544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 stands apart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1901952"/>
            <a:ext cx="2395728" cy="75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About 3K medals, ahead of the Soviet Union, Germany, GB and France.</a:t>
            </a:r>
            <a:endParaRPr lang="en-US" sz="1400" dirty="0"/>
          </a:p>
        </p:txBody>
      </p:sp>
      <p:sp>
        <p:nvSpPr>
          <p:cNvPr id="10" name="Insight row"/>
          <p:cNvSpPr/>
          <p:nvPr/>
        </p:nvSpPr>
        <p:spPr>
          <a:xfrm>
            <a:off x="548640" y="2945032"/>
            <a:ext cx="3319272" cy="1344832"/>
          </a:xfrm>
          <a:prstGeom prst="roundRect">
            <a:avLst>
              <a:gd name="adj" fmla="val 8159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Icon circle"/>
          <p:cNvSpPr/>
          <p:nvPr/>
        </p:nvSpPr>
        <p:spPr>
          <a:xfrm>
            <a:off x="713232" y="31736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us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" y="3299362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12791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Efficiency: 13.25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475384"/>
            <a:ext cx="2395728" cy="75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Medals per 100 athletes, across 156K athlete entries.</a:t>
            </a:r>
            <a:endParaRPr lang="en-US" sz="1400" dirty="0"/>
          </a:p>
        </p:txBody>
      </p:sp>
      <p:sp>
        <p:nvSpPr>
          <p:cNvPr id="15" name="Insight row"/>
          <p:cNvSpPr/>
          <p:nvPr/>
        </p:nvSpPr>
        <p:spPr>
          <a:xfrm>
            <a:off x="548640" y="4518464"/>
            <a:ext cx="3319272" cy="1344832"/>
          </a:xfrm>
          <a:prstGeom prst="roundRect">
            <a:avLst>
              <a:gd name="adj" fmla="val 8159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Icon circle"/>
          <p:cNvSpPr/>
          <p:nvPr/>
        </p:nvSpPr>
        <p:spPr>
          <a:xfrm>
            <a:off x="713232" y="4747064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medal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" y="4872794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701344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podium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5048816"/>
            <a:ext cx="2395728" cy="75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Gold 32.7%, silver 32.6% and bronze 34.7% of all medals.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Athlete Spotlight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548640" y="1371600"/>
            <a:ext cx="7406640" cy="4485383"/>
          </a:xfrm>
          <a:prstGeom prst="roundRect">
            <a:avLst>
              <a:gd name="adj" fmla="val 2039"/>
            </a:avLst>
          </a:prstGeom>
          <a:solidFill>
            <a:schemeClr val="bg1"/>
          </a:solidFill>
          <a:ln w="12700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ower BI page: Athlete Spotl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7223760" cy="4302503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8321040" y="1371600"/>
            <a:ext cx="33192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tat pill"/>
          <p:cNvSpPr/>
          <p:nvPr/>
        </p:nvSpPr>
        <p:spPr>
          <a:xfrm>
            <a:off x="8321040" y="1371600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32104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156K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9921240" y="137160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Athletes in the dataset</a:t>
            </a:r>
            <a:endParaRPr lang="en-US" sz="1400" dirty="0"/>
          </a:p>
        </p:txBody>
      </p:sp>
      <p:sp>
        <p:nvSpPr>
          <p:cNvPr id="9" name="Stat card"/>
          <p:cNvSpPr/>
          <p:nvPr/>
        </p:nvSpPr>
        <p:spPr>
          <a:xfrm>
            <a:off x="8321040" y="2377440"/>
            <a:ext cx="33192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tat pill"/>
          <p:cNvSpPr/>
          <p:nvPr/>
        </p:nvSpPr>
        <p:spPr>
          <a:xfrm>
            <a:off x="8321040" y="2377440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321040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921240" y="237744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Athletes who won a medal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8321040" y="3383280"/>
            <a:ext cx="33192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tat pill"/>
          <p:cNvSpPr/>
          <p:nvPr/>
        </p:nvSpPr>
        <p:spPr>
          <a:xfrm>
            <a:off x="8321040" y="3383280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321040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921240" y="338328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Most appearances (Ian Millar)</a:t>
            </a:r>
            <a:endParaRPr lang="en-US" sz="1400" dirty="0"/>
          </a:p>
        </p:txBody>
      </p:sp>
      <p:sp>
        <p:nvSpPr>
          <p:cNvPr id="17" name="Insight card"/>
          <p:cNvSpPr/>
          <p:nvPr/>
        </p:nvSpPr>
        <p:spPr>
          <a:xfrm>
            <a:off x="8321040" y="4389120"/>
            <a:ext cx="3319272" cy="1467863"/>
          </a:xfrm>
          <a:prstGeom prst="roundRect">
            <a:avLst>
              <a:gd name="adj" fmla="val 7475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8503920" y="452628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6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4800600"/>
            <a:ext cx="2953512" cy="964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Michael Phelps tops the medal table, followed by Larisa Latynina and Marit Bjørgen. Four in five athletes never reach the podium.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Sports &amp; Event Analysis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4233672" y="1371600"/>
            <a:ext cx="7406640" cy="4368365"/>
          </a:xfrm>
          <a:prstGeom prst="roundRect">
            <a:avLst>
              <a:gd name="adj" fmla="val 2093"/>
            </a:avLst>
          </a:prstGeom>
          <a:solidFill>
            <a:schemeClr val="bg1"/>
          </a:solidFill>
          <a:ln w="12700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ower BI page: Sports and Event Analy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463040"/>
            <a:ext cx="7223760" cy="4185485"/>
          </a:xfrm>
          <a:prstGeom prst="rect">
            <a:avLst/>
          </a:prstGeom>
        </p:spPr>
      </p:pic>
      <p:sp>
        <p:nvSpPr>
          <p:cNvPr id="5" name="Insight row"/>
          <p:cNvSpPr/>
          <p:nvPr/>
        </p:nvSpPr>
        <p:spPr>
          <a:xfrm>
            <a:off x="548640" y="1371600"/>
            <a:ext cx="3319272" cy="1303722"/>
          </a:xfrm>
          <a:prstGeom prst="roundRect">
            <a:avLst>
              <a:gd name="adj" fmla="val 8417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Icon circle"/>
          <p:cNvSpPr/>
          <p:nvPr/>
        </p:nvSpPr>
        <p:spPr>
          <a:xfrm>
            <a:off x="713232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lis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" y="172593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5544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Huge breadth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1901952"/>
            <a:ext cx="2395728" cy="70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112 sports and 964 events captured in the data.</a:t>
            </a:r>
            <a:endParaRPr lang="en-US" sz="1400" dirty="0"/>
          </a:p>
        </p:txBody>
      </p:sp>
      <p:sp>
        <p:nvSpPr>
          <p:cNvPr id="10" name="Insight row"/>
          <p:cNvSpPr/>
          <p:nvPr/>
        </p:nvSpPr>
        <p:spPr>
          <a:xfrm>
            <a:off x="548640" y="2903922"/>
            <a:ext cx="3319272" cy="1303722"/>
          </a:xfrm>
          <a:prstGeom prst="roundRect">
            <a:avLst>
              <a:gd name="adj" fmla="val 8417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Icon circle"/>
          <p:cNvSpPr/>
          <p:nvPr/>
        </p:nvSpPr>
        <p:spPr>
          <a:xfrm>
            <a:off x="713232" y="313252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medal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" y="3258252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086802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Athletics leads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434274"/>
            <a:ext cx="2395728" cy="70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Most medals (about 4.5K) and athletes, then Swimming and Rowing.</a:t>
            </a:r>
            <a:endParaRPr lang="en-US" sz="1400" dirty="0"/>
          </a:p>
        </p:txBody>
      </p:sp>
      <p:sp>
        <p:nvSpPr>
          <p:cNvPr id="15" name="Insight row"/>
          <p:cNvSpPr/>
          <p:nvPr/>
        </p:nvSpPr>
        <p:spPr>
          <a:xfrm>
            <a:off x="548640" y="4436244"/>
            <a:ext cx="3319272" cy="1303722"/>
          </a:xfrm>
          <a:prstGeom prst="roundRect">
            <a:avLst>
              <a:gd name="adj" fmla="val 8417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Icon circle"/>
          <p:cNvSpPr/>
          <p:nvPr/>
        </p:nvSpPr>
        <p:spPr>
          <a:xfrm>
            <a:off x="713232" y="4664844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fla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" y="4790574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619124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dominance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4966596"/>
            <a:ext cx="2395728" cy="70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USA holds 6,270 sport medals, ahead of GB (2,395) and USSR (2,259).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Host Country Analysis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548640" y="1371600"/>
            <a:ext cx="7406640" cy="4409381"/>
          </a:xfrm>
          <a:prstGeom prst="roundRect">
            <a:avLst>
              <a:gd name="adj" fmla="val 2074"/>
            </a:avLst>
          </a:prstGeom>
          <a:solidFill>
            <a:schemeClr val="bg1"/>
          </a:solidFill>
          <a:ln w="12700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ower BI page: Host Country Analy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7223760" cy="4226501"/>
          </a:xfrm>
          <a:prstGeom prst="rect">
            <a:avLst/>
          </a:prstGeom>
        </p:spPr>
      </p:pic>
      <p:sp>
        <p:nvSpPr>
          <p:cNvPr id="5" name="Stat card"/>
          <p:cNvSpPr/>
          <p:nvPr/>
        </p:nvSpPr>
        <p:spPr>
          <a:xfrm>
            <a:off x="8321040" y="1371600"/>
            <a:ext cx="33192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tat pill"/>
          <p:cNvSpPr/>
          <p:nvPr/>
        </p:nvSpPr>
        <p:spPr>
          <a:xfrm>
            <a:off x="8321040" y="1371600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32104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9921240" y="137160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Most host events (about 460)</a:t>
            </a:r>
            <a:endParaRPr lang="en-US" sz="1400" dirty="0"/>
          </a:p>
        </p:txBody>
      </p:sp>
      <p:sp>
        <p:nvSpPr>
          <p:cNvPr id="9" name="Stat card"/>
          <p:cNvSpPr/>
          <p:nvPr/>
        </p:nvSpPr>
        <p:spPr>
          <a:xfrm>
            <a:off x="8321040" y="2377440"/>
            <a:ext cx="33192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tat pill"/>
          <p:cNvSpPr/>
          <p:nvPr/>
        </p:nvSpPr>
        <p:spPr>
          <a:xfrm>
            <a:off x="8321040" y="2377440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321040" y="2377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921240" y="237744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Second, with about 385 events</a:t>
            </a:r>
            <a:endParaRPr lang="en-US" sz="1400" dirty="0"/>
          </a:p>
        </p:txBody>
      </p:sp>
      <p:sp>
        <p:nvSpPr>
          <p:cNvPr id="13" name="Stat card"/>
          <p:cNvSpPr/>
          <p:nvPr/>
        </p:nvSpPr>
        <p:spPr>
          <a:xfrm>
            <a:off x="8321040" y="3383280"/>
            <a:ext cx="3319272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tat pill"/>
          <p:cNvSpPr/>
          <p:nvPr/>
        </p:nvSpPr>
        <p:spPr>
          <a:xfrm>
            <a:off x="8321040" y="3383280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321040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JPN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921240" y="338328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Third, with about 375 events</a:t>
            </a:r>
            <a:endParaRPr lang="en-US" sz="1400" dirty="0"/>
          </a:p>
        </p:txBody>
      </p:sp>
      <p:sp>
        <p:nvSpPr>
          <p:cNvPr id="17" name="Insight card"/>
          <p:cNvSpPr/>
          <p:nvPr/>
        </p:nvSpPr>
        <p:spPr>
          <a:xfrm>
            <a:off x="8321040" y="4389120"/>
            <a:ext cx="3319272" cy="1391861"/>
          </a:xfrm>
          <a:prstGeom prst="roundRect">
            <a:avLst>
              <a:gd name="adj" fmla="val 7884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8503920" y="4526280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6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4800600"/>
            <a:ext cx="2953512" cy="888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Host-year medal hauls peak near 1904 and again in the 1980s, yet host medals remain a small slice of the overall total.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Gender &amp; Demography</a:t>
            </a:r>
            <a:endParaRPr lang="en-US" sz="3200" dirty="0"/>
          </a:p>
        </p:txBody>
      </p:sp>
      <p:sp>
        <p:nvSpPr>
          <p:cNvPr id="3" name="Screenshot frame"/>
          <p:cNvSpPr/>
          <p:nvPr/>
        </p:nvSpPr>
        <p:spPr>
          <a:xfrm>
            <a:off x="4233672" y="1371600"/>
            <a:ext cx="7406640" cy="4377657"/>
          </a:xfrm>
          <a:prstGeom prst="roundRect">
            <a:avLst>
              <a:gd name="adj" fmla="val 2089"/>
            </a:avLst>
          </a:prstGeom>
          <a:solidFill>
            <a:schemeClr val="bg1"/>
          </a:solidFill>
          <a:ln w="12700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ower BI page: Gender and Demograph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463040"/>
            <a:ext cx="7223760" cy="4194777"/>
          </a:xfrm>
          <a:prstGeom prst="rect">
            <a:avLst/>
          </a:prstGeom>
        </p:spPr>
      </p:pic>
      <p:sp>
        <p:nvSpPr>
          <p:cNvPr id="5" name="Insight row"/>
          <p:cNvSpPr/>
          <p:nvPr/>
        </p:nvSpPr>
        <p:spPr>
          <a:xfrm>
            <a:off x="548640" y="1371600"/>
            <a:ext cx="3319272" cy="1306819"/>
          </a:xfrm>
          <a:prstGeom prst="roundRect">
            <a:avLst>
              <a:gd name="adj" fmla="val 8397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Icon circle"/>
          <p:cNvSpPr/>
          <p:nvPr/>
        </p:nvSpPr>
        <p:spPr>
          <a:xfrm>
            <a:off x="713232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gend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" y="172593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55448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116K vs 40K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371600" y="1901952"/>
            <a:ext cx="2395728" cy="71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Male vs female athletes; women won about 30% of medals.</a:t>
            </a:r>
            <a:endParaRPr lang="en-US" sz="1400" dirty="0"/>
          </a:p>
        </p:txBody>
      </p:sp>
      <p:sp>
        <p:nvSpPr>
          <p:cNvPr id="10" name="Insight row"/>
          <p:cNvSpPr/>
          <p:nvPr/>
        </p:nvSpPr>
        <p:spPr>
          <a:xfrm>
            <a:off x="548640" y="2907019"/>
            <a:ext cx="3319272" cy="1306819"/>
          </a:xfrm>
          <a:prstGeom prst="roundRect">
            <a:avLst>
              <a:gd name="adj" fmla="val 8397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Icon circle"/>
          <p:cNvSpPr/>
          <p:nvPr/>
        </p:nvSpPr>
        <p:spPr>
          <a:xfrm>
            <a:off x="713232" y="3135619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cal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" y="3261349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089899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age 26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437371"/>
            <a:ext cx="2395728" cy="71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26.06 years, with ages 20 to 25 the largest group.</a:t>
            </a:r>
            <a:endParaRPr lang="en-US" sz="1400" dirty="0"/>
          </a:p>
        </p:txBody>
      </p:sp>
      <p:sp>
        <p:nvSpPr>
          <p:cNvPr id="15" name="Insight row"/>
          <p:cNvSpPr/>
          <p:nvPr/>
        </p:nvSpPr>
        <p:spPr>
          <a:xfrm>
            <a:off x="548640" y="4442438"/>
            <a:ext cx="3319272" cy="1306819"/>
          </a:xfrm>
          <a:prstGeom prst="roundRect">
            <a:avLst>
              <a:gd name="adj" fmla="val 8397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Icon circle"/>
          <p:cNvSpPr/>
          <p:nvPr/>
        </p:nvSpPr>
        <p:spPr>
          <a:xfrm>
            <a:off x="713232" y="467103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sta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" y="4796768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625318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is no barrier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4972790"/>
            <a:ext cx="2395728" cy="71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Youngest medal winner is 11, the oldest is 73.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Key Takeaways &amp; Next Steps</a:t>
            </a:r>
            <a:endParaRPr lang="en-US" sz="3200" dirty="0"/>
          </a:p>
        </p:txBody>
      </p:sp>
      <p:sp>
        <p:nvSpPr>
          <p:cNvPr id="3" name="Takeaway card"/>
          <p:cNvSpPr/>
          <p:nvPr/>
        </p:nvSpPr>
        <p:spPr>
          <a:xfrm>
            <a:off x="548640" y="1371600"/>
            <a:ext cx="32918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troph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 powerhouses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51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USA leads with about 3K medals, ahead of the Soviet Union and Germany.</a:t>
            </a:r>
            <a:endParaRPr lang="en-US" sz="1400" dirty="0"/>
          </a:p>
        </p:txBody>
      </p:sp>
      <p:sp>
        <p:nvSpPr>
          <p:cNvPr id="8" name="Takeaway card"/>
          <p:cNvSpPr/>
          <p:nvPr/>
        </p:nvSpPr>
        <p:spPr>
          <a:xfrm>
            <a:off x="4114800" y="1371600"/>
            <a:ext cx="32918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Icon circle"/>
          <p:cNvSpPr/>
          <p:nvPr/>
        </p:nvSpPr>
        <p:spPr>
          <a:xfrm>
            <a:off x="434340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targe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selective podium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2651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Only 20% of athletes medal; efficiency is 13.25 per 100 athletes.</a:t>
            </a:r>
            <a:endParaRPr lang="en-US" sz="1400" dirty="0"/>
          </a:p>
        </p:txBody>
      </p:sp>
      <p:sp>
        <p:nvSpPr>
          <p:cNvPr id="13" name="Takeaway card"/>
          <p:cNvSpPr/>
          <p:nvPr/>
        </p:nvSpPr>
        <p:spPr>
          <a:xfrm>
            <a:off x="548640" y="3840480"/>
            <a:ext cx="32918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Icon circle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ru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062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4754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 concentration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5120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Athletics, Swimming and Rowing deliver the most medals.</a:t>
            </a:r>
            <a:endParaRPr lang="en-US" sz="1400" dirty="0"/>
          </a:p>
        </p:txBody>
      </p:sp>
      <p:sp>
        <p:nvSpPr>
          <p:cNvPr id="18" name="Takeaway card"/>
          <p:cNvSpPr/>
          <p:nvPr/>
        </p:nvSpPr>
        <p:spPr>
          <a:xfrm>
            <a:off x="4114800" y="3840480"/>
            <a:ext cx="329184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Icon circle"/>
          <p:cNvSpPr/>
          <p:nvPr/>
        </p:nvSpPr>
        <p:spPr>
          <a:xfrm>
            <a:off x="4343400" y="40690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gender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42062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343400" y="4754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to grow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343400" y="51206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Women are 26% of athletes (40K of 156K) and won 30% of medals.</a:t>
            </a:r>
            <a:endParaRPr lang="en-US" sz="1400" dirty="0"/>
          </a:p>
        </p:txBody>
      </p:sp>
      <p:sp>
        <p:nvSpPr>
          <p:cNvPr id="23" name="Next steps panel"/>
          <p:cNvSpPr/>
          <p:nvPr/>
        </p:nvSpPr>
        <p:spPr>
          <a:xfrm>
            <a:off x="7680960" y="1371600"/>
            <a:ext cx="3959352" cy="4663440"/>
          </a:xfrm>
          <a:prstGeom prst="roundRect">
            <a:avLst>
              <a:gd name="adj" fmla="val 2771"/>
            </a:avLst>
          </a:prstGeom>
          <a:solidFill>
            <a:schemeClr val="bg2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 txBox="1"/>
          <p:nvPr/>
        </p:nvSpPr>
        <p:spPr>
          <a:xfrm>
            <a:off x="800100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200" dirty="0"/>
          </a:p>
        </p:txBody>
      </p:sp>
      <p:sp>
        <p:nvSpPr>
          <p:cNvPr id="25" name="Step number"/>
          <p:cNvSpPr/>
          <p:nvPr/>
        </p:nvSpPr>
        <p:spPr>
          <a:xfrm>
            <a:off x="8001000" y="22860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 txBox="1"/>
          <p:nvPr/>
        </p:nvSpPr>
        <p:spPr>
          <a:xfrm>
            <a:off x="8001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8641080" y="2194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Forecast medal counts for upcoming Games with time-series models</a:t>
            </a:r>
            <a:endParaRPr lang="en-US" sz="1400" dirty="0"/>
          </a:p>
        </p:txBody>
      </p:sp>
      <p:sp>
        <p:nvSpPr>
          <p:cNvPr id="28" name="Step number"/>
          <p:cNvSpPr/>
          <p:nvPr/>
        </p:nvSpPr>
        <p:spPr>
          <a:xfrm>
            <a:off x="8001000" y="32004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 txBox="1"/>
          <p:nvPr/>
        </p:nvSpPr>
        <p:spPr>
          <a:xfrm>
            <a:off x="80010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8641080" y="31089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population and GDP context to medal efficiency</a:t>
            </a:r>
            <a:endParaRPr lang="en-US" sz="1400" dirty="0"/>
          </a:p>
        </p:txBody>
      </p:sp>
      <p:sp>
        <p:nvSpPr>
          <p:cNvPr id="31" name="Step number"/>
          <p:cNvSpPr/>
          <p:nvPr/>
        </p:nvSpPr>
        <p:spPr>
          <a:xfrm>
            <a:off x="8001000" y="41148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 txBox="1"/>
          <p:nvPr/>
        </p:nvSpPr>
        <p:spPr>
          <a:xfrm>
            <a:off x="80010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8641080" y="40233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Track growth in women's participation by edition</a:t>
            </a:r>
            <a:endParaRPr lang="en-US" sz="1400" dirty="0"/>
          </a:p>
        </p:txBody>
      </p:sp>
      <p:sp>
        <p:nvSpPr>
          <p:cNvPr id="34" name="Step number"/>
          <p:cNvSpPr/>
          <p:nvPr/>
        </p:nvSpPr>
        <p:spPr>
          <a:xfrm>
            <a:off x="8001000" y="502920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 txBox="1"/>
          <p:nvPr/>
        </p:nvSpPr>
        <p:spPr>
          <a:xfrm>
            <a:off x="80010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8641080" y="49377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Publish to Power BI Service for IOC stakeholders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1097280" y="1417320"/>
            <a:ext cx="9994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chemeClr val="tx1"/>
                </a:solidFill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606040"/>
            <a:ext cx="9994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turn Olympic data into decisions</a:t>
            </a:r>
            <a:endParaRPr lang="en-US" sz="2800" dirty="0"/>
          </a:p>
        </p:txBody>
      </p:sp>
      <p:sp>
        <p:nvSpPr>
          <p:cNvPr id="5" name="Contact card"/>
          <p:cNvSpPr/>
          <p:nvPr/>
        </p:nvSpPr>
        <p:spPr>
          <a:xfrm>
            <a:off x="3355848" y="4023360"/>
            <a:ext cx="548640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CE5F0"/>
            </a:solidFill>
            <a:prstDash val="solid"/>
          </a:ln>
          <a:effectLst>
            <a:outerShdw blurRad="127000" dist="38100" dir="5400000" algn="bl" rotWithShape="0">
              <a:srgbClr val="8FA3BF">
                <a:alpha val="2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355848" y="4462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Yavan Pratap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52303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yavan.pratap13@gmail.com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u="sng" dirty="0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linkedin.com/in/yavan-pratap-singh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lympic Light">
  <a:themeElements>
    <a:clrScheme name="Olympic Light">
      <a:dk1>
        <a:srgbClr val="1F2A44"/>
      </a:dk1>
      <a:lt1>
        <a:srgbClr val="FFFFFF"/>
      </a:lt1>
      <a:dk2>
        <a:srgbClr val="3B4A6B"/>
      </a:dk2>
      <a:lt2>
        <a:srgbClr val="F3F7FB"/>
      </a:lt2>
      <a:accent1>
        <a:srgbClr val="8EC3E8"/>
      </a:accent1>
      <a:accent2>
        <a:srgbClr val="F5D77E"/>
      </a:accent2>
      <a:accent3>
        <a:srgbClr val="AEB6C4"/>
      </a:accent3>
      <a:accent4>
        <a:srgbClr val="9AD3B0"/>
      </a:accent4>
      <a:accent5>
        <a:srgbClr val="F2A0A8"/>
      </a:accent5>
      <a:accent6>
        <a:srgbClr val="8A6D1F"/>
      </a:accent6>
      <a:hlink>
        <a:srgbClr val="2B6CB0"/>
      </a:hlink>
      <a:folHlink>
        <a:srgbClr val="6B5B95"/>
      </a:folHlink>
    </a:clrScheme>
    <a:fontScheme name="Olympic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964</Words>
  <Application>Microsoft Office PowerPoint</Application>
  <PresentationFormat>Widescreen</PresentationFormat>
  <Paragraphs>159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Olympic Light</vt:lpstr>
      <vt:lpstr>Olympic Insights</vt:lpstr>
      <vt:lpstr>The Challenge: Insights for the IOC</vt:lpstr>
      <vt:lpstr>Data Model: How the Tables Connect</vt:lpstr>
      <vt:lpstr>Dashboard Roadmap: Six Pages, One Story</vt:lpstr>
      <vt:lpstr>Global Medal Overview</vt:lpstr>
      <vt:lpstr>Country Insights</vt:lpstr>
      <vt:lpstr>Athlete Spotlight</vt:lpstr>
      <vt:lpstr>Sports &amp; Event Analysis</vt:lpstr>
      <vt:lpstr>Host Country Analysis</vt:lpstr>
      <vt:lpstr>Gender &amp; Demography</vt:lpstr>
      <vt:lpstr>Key Takeaways &amp; Next Steps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Olympic Insights Using Data Analytics</dc:title>
  <dc:subject>PptxGenJS Presentation</dc:subject>
  <dc:creator>Yavan Pratap</dc:creator>
  <cp:lastModifiedBy>Yavan Pratap</cp:lastModifiedBy>
  <cp:revision>2</cp:revision>
  <dcterms:created xsi:type="dcterms:W3CDTF">2026-10-27T17:36:41Z</dcterms:created>
  <dcterms:modified xsi:type="dcterms:W3CDTF">2026-10-27T17:41:54Z</dcterms:modified>
</cp:coreProperties>
</file>